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0" r:id="rId7"/>
    <p:sldId id="261" r:id="rId8"/>
    <p:sldId id="262" r:id="rId9"/>
    <p:sldId id="264" r:id="rId10"/>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7193E"/>
    <a:srgbClr val="FA8D8C"/>
    <a:srgbClr val="75E2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44" autoAdjust="0"/>
    <p:restoredTop sz="94660"/>
  </p:normalViewPr>
  <p:slideViewPr>
    <p:cSldViewPr snapToGrid="0">
      <p:cViewPr varScale="1">
        <p:scale>
          <a:sx n="105" d="100"/>
          <a:sy n="105" d="100"/>
        </p:scale>
        <p:origin x="103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054E6-2114-8296-3CC6-2557F7BD4F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4A0CB2EE-13EF-31E6-3C1C-888E8D1739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EC97A83C-4BCB-988F-B2D1-B7A553157AB1}"/>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5" name="Footer Placeholder 4">
            <a:extLst>
              <a:ext uri="{FF2B5EF4-FFF2-40B4-BE49-F238E27FC236}">
                <a16:creationId xmlns:a16="http://schemas.microsoft.com/office/drawing/2014/main" id="{60AD1EA7-97AE-F239-1A6D-8F434ACFAA3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E63A861-86A4-1FFA-800F-A672DA438850}"/>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266355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292E8-E799-56BB-4416-6B9899782E6D}"/>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D60CA535-9206-4906-392C-356B050C03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02AC6C8E-A25B-CC9A-433B-4E4030EFDA50}"/>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5" name="Footer Placeholder 4">
            <a:extLst>
              <a:ext uri="{FF2B5EF4-FFF2-40B4-BE49-F238E27FC236}">
                <a16:creationId xmlns:a16="http://schemas.microsoft.com/office/drawing/2014/main" id="{944B1C84-67B3-D3E8-563D-C661D61F2BD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4F92D640-F899-5829-D5D6-917FD457BAA4}"/>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4292915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4EE16-BA8C-0254-CB6E-F408C623F83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6C8D08B1-D2EE-2A70-D1C1-8BFEDC915C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78573D-9020-5575-9DB8-40967903ACF8}"/>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5" name="Footer Placeholder 4">
            <a:extLst>
              <a:ext uri="{FF2B5EF4-FFF2-40B4-BE49-F238E27FC236}">
                <a16:creationId xmlns:a16="http://schemas.microsoft.com/office/drawing/2014/main" id="{43E976AD-C6CF-BFAF-3535-02E059EDDAA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BAF7C521-0F59-7734-ADC2-9E65EC5E59F8}"/>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2717338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8F553-4E83-15D3-3E36-C684D9EB7ADB}"/>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ABEE6E3E-3224-9F1A-A1F7-9E3D79D0B0C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B4DDEF51-4023-331E-E2C6-5753F58381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828EE735-78A4-1569-5774-89BF3A384A4D}"/>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6" name="Footer Placeholder 5">
            <a:extLst>
              <a:ext uri="{FF2B5EF4-FFF2-40B4-BE49-F238E27FC236}">
                <a16:creationId xmlns:a16="http://schemas.microsoft.com/office/drawing/2014/main" id="{BDF88DFF-FE21-5E21-801D-0F9062CD6F34}"/>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9C0CD539-F890-333D-ECD9-75DBE3428C55}"/>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1838122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B739-739D-935A-42FD-6107724261FC}"/>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8B643A32-69FC-3641-B6A8-50C4F8EE6E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1BB0CD-037A-6A86-FFE9-0F783A6BD5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4F90D241-DCF7-299B-8F98-B68AB270AE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468576-9128-3A18-ACD0-986D5E898C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2AEAFE72-D257-1A2E-4696-47ED55EF2C47}"/>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8" name="Footer Placeholder 7">
            <a:extLst>
              <a:ext uri="{FF2B5EF4-FFF2-40B4-BE49-F238E27FC236}">
                <a16:creationId xmlns:a16="http://schemas.microsoft.com/office/drawing/2014/main" id="{EDD4C702-6D06-6232-B5A9-1EF4EE0A6CA4}"/>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3819B1DE-6993-4CF9-19A2-90C0C44C4CA8}"/>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299116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9E149-E79C-0CF8-3B42-3461EAD05447}"/>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5399226D-2150-FF6B-6E8C-099A4DCBA974}"/>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4" name="Footer Placeholder 3">
            <a:extLst>
              <a:ext uri="{FF2B5EF4-FFF2-40B4-BE49-F238E27FC236}">
                <a16:creationId xmlns:a16="http://schemas.microsoft.com/office/drawing/2014/main" id="{4D4B36E7-A8CF-F6FC-0EBB-B51D0731B9CC}"/>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96E01AA3-918F-5533-B6D2-13DDFBA015E5}"/>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2235645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8F309-5AC1-500C-AA44-612CB68A5996}"/>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3" name="Footer Placeholder 2">
            <a:extLst>
              <a:ext uri="{FF2B5EF4-FFF2-40B4-BE49-F238E27FC236}">
                <a16:creationId xmlns:a16="http://schemas.microsoft.com/office/drawing/2014/main" id="{41446E78-E7DA-1E7B-4D63-4BE0AA797A0E}"/>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64AFEEF1-EC8D-29C8-2384-B22B5E1A224B}"/>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2087583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01F49-4ABD-49A6-B8CF-53C647824A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43A17504-619A-C993-E23D-CC63497993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5C953651-7D6A-6EA4-685E-0E999AB510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0F1C35-2993-171D-898B-B8DF59760E42}"/>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6" name="Footer Placeholder 5">
            <a:extLst>
              <a:ext uri="{FF2B5EF4-FFF2-40B4-BE49-F238E27FC236}">
                <a16:creationId xmlns:a16="http://schemas.microsoft.com/office/drawing/2014/main" id="{324E57FB-9939-FECE-FCB6-A5974E49D47C}"/>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9425D13E-B954-6B8D-01E0-EB62F24320A9}"/>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483181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E24EA-5C3F-8A54-DB32-63B52C5D3F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9EA3FF81-DAC8-5AFD-7DD8-E6B2158E6B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69CCF364-29F8-E37E-3575-936D541966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C0BEF1-EED6-E2E7-B8D6-3246D48C53A2}"/>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6" name="Footer Placeholder 5">
            <a:extLst>
              <a:ext uri="{FF2B5EF4-FFF2-40B4-BE49-F238E27FC236}">
                <a16:creationId xmlns:a16="http://schemas.microsoft.com/office/drawing/2014/main" id="{121417DD-7121-F5CD-65E6-7D912D444451}"/>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0852F68C-BDF0-0D45-9161-478C960A1BB4}"/>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2950944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0EF83-455A-2E0F-BE6B-C469105A0E84}"/>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C41714D1-0E29-22AC-70BF-F71390BB60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31672267-4CF8-8B9A-E45E-01E11E19A196}"/>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5" name="Footer Placeholder 4">
            <a:extLst>
              <a:ext uri="{FF2B5EF4-FFF2-40B4-BE49-F238E27FC236}">
                <a16:creationId xmlns:a16="http://schemas.microsoft.com/office/drawing/2014/main" id="{6C4F99F7-907F-AC5C-2014-1ED71D859F06}"/>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508C0BA5-7A1A-EB7F-F337-5D584A8FCF4C}"/>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2651551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6140FA-8859-7388-220C-E51CDAAA4A5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1575C765-F5E8-6A1E-F157-3B49DE1404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E1B1C181-30CE-9FB5-FB8C-76C47ADDD1D7}"/>
              </a:ext>
            </a:extLst>
          </p:cNvPr>
          <p:cNvSpPr>
            <a:spLocks noGrp="1"/>
          </p:cNvSpPr>
          <p:nvPr>
            <p:ph type="dt" sz="half" idx="10"/>
          </p:nvPr>
        </p:nvSpPr>
        <p:spPr/>
        <p:txBody>
          <a:bodyPr/>
          <a:lstStyle/>
          <a:p>
            <a:fld id="{81652C81-7F9B-4455-A74B-1881CD2793D2}" type="datetimeFigureOut">
              <a:rPr lang="en-DE" smtClean="0"/>
              <a:t>17/03/2024</a:t>
            </a:fld>
            <a:endParaRPr lang="en-DE"/>
          </a:p>
        </p:txBody>
      </p:sp>
      <p:sp>
        <p:nvSpPr>
          <p:cNvPr id="5" name="Footer Placeholder 4">
            <a:extLst>
              <a:ext uri="{FF2B5EF4-FFF2-40B4-BE49-F238E27FC236}">
                <a16:creationId xmlns:a16="http://schemas.microsoft.com/office/drawing/2014/main" id="{BF086E6E-C62D-7CBB-8826-8B8B2FD83F7C}"/>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6F92DBB3-3B57-BA1B-ACE6-E74F83E49405}"/>
              </a:ext>
            </a:extLst>
          </p:cNvPr>
          <p:cNvSpPr>
            <a:spLocks noGrp="1"/>
          </p:cNvSpPr>
          <p:nvPr>
            <p:ph type="sldNum" sz="quarter" idx="12"/>
          </p:nvPr>
        </p:nvSpPr>
        <p:spPr/>
        <p:txBody>
          <a:bodyPr/>
          <a:lstStyle/>
          <a:p>
            <a:fld id="{6AEA1167-025F-4AB1-BB72-96D5B310CC6D}" type="slidenum">
              <a:rPr lang="en-DE" smtClean="0"/>
              <a:t>‹#›</a:t>
            </a:fld>
            <a:endParaRPr lang="en-DE"/>
          </a:p>
        </p:txBody>
      </p:sp>
    </p:spTree>
    <p:extLst>
      <p:ext uri="{BB962C8B-B14F-4D97-AF65-F5344CB8AC3E}">
        <p14:creationId xmlns:p14="http://schemas.microsoft.com/office/powerpoint/2010/main" val="1284371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810AD7-3CF4-D67B-A633-1921F49CC7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FEAFEE53-C4D1-5469-C3CC-E70B245DEA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CC6BD52E-0290-5991-6EB9-EB75BCF40E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652C81-7F9B-4455-A74B-1881CD2793D2}" type="datetimeFigureOut">
              <a:rPr lang="en-DE" smtClean="0"/>
              <a:t>17/03/2024</a:t>
            </a:fld>
            <a:endParaRPr lang="en-DE"/>
          </a:p>
        </p:txBody>
      </p:sp>
      <p:sp>
        <p:nvSpPr>
          <p:cNvPr id="5" name="Footer Placeholder 4">
            <a:extLst>
              <a:ext uri="{FF2B5EF4-FFF2-40B4-BE49-F238E27FC236}">
                <a16:creationId xmlns:a16="http://schemas.microsoft.com/office/drawing/2014/main" id="{0C09F6DF-3EE5-30B9-F882-224136EE1E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D6F1E2C0-86B6-0C77-4DE9-408D73A555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EA1167-025F-4AB1-BB72-96D5B310CC6D}" type="slidenum">
              <a:rPr lang="en-DE" smtClean="0"/>
              <a:t>‹#›</a:t>
            </a:fld>
            <a:endParaRPr lang="en-DE"/>
          </a:p>
        </p:txBody>
      </p:sp>
    </p:spTree>
    <p:extLst>
      <p:ext uri="{BB962C8B-B14F-4D97-AF65-F5344CB8AC3E}">
        <p14:creationId xmlns:p14="http://schemas.microsoft.com/office/powerpoint/2010/main" val="25779564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olorful wave in the sky&#10;&#10;Description automatically generated">
            <a:extLst>
              <a:ext uri="{FF2B5EF4-FFF2-40B4-BE49-F238E27FC236}">
                <a16:creationId xmlns:a16="http://schemas.microsoft.com/office/drawing/2014/main" id="{EBF918FF-7D1C-32F4-BD25-9D772F857E0C}"/>
              </a:ext>
            </a:extLst>
          </p:cNvPr>
          <p:cNvPicPr>
            <a:picLocks noChangeAspect="1"/>
          </p:cNvPicPr>
          <p:nvPr/>
        </p:nvPicPr>
        <p:blipFill rotWithShape="1">
          <a:blip r:embed="rId2">
            <a:alphaModFix/>
            <a:extLst>
              <a:ext uri="{28A0092B-C50C-407E-A947-70E740481C1C}">
                <a14:useLocalDpi xmlns:a14="http://schemas.microsoft.com/office/drawing/2010/main" val="0"/>
              </a:ext>
            </a:extLst>
          </a:blip>
          <a:srcRect t="15428" b="2420"/>
          <a:stretch/>
        </p:blipFill>
        <p:spPr>
          <a:xfrm rot="16200000">
            <a:off x="2667002" y="-2667001"/>
            <a:ext cx="6858000" cy="12192002"/>
          </a:xfrm>
          <a:prstGeom prst="rect">
            <a:avLst/>
          </a:prstGeom>
        </p:spPr>
      </p:pic>
      <p:sp>
        <p:nvSpPr>
          <p:cNvPr id="2" name="Title 1">
            <a:extLst>
              <a:ext uri="{FF2B5EF4-FFF2-40B4-BE49-F238E27FC236}">
                <a16:creationId xmlns:a16="http://schemas.microsoft.com/office/drawing/2014/main" id="{1684990B-D3F1-7A6E-35F6-0051C466E0C7}"/>
              </a:ext>
            </a:extLst>
          </p:cNvPr>
          <p:cNvSpPr>
            <a:spLocks noGrp="1"/>
          </p:cNvSpPr>
          <p:nvPr>
            <p:ph type="ctrTitle"/>
          </p:nvPr>
        </p:nvSpPr>
        <p:spPr>
          <a:xfrm>
            <a:off x="4514850" y="2471736"/>
            <a:ext cx="3162300" cy="957263"/>
          </a:xfrm>
          <a:custGeom>
            <a:avLst/>
            <a:gdLst>
              <a:gd name="connsiteX0" fmla="*/ 0 w 3162300"/>
              <a:gd name="connsiteY0" fmla="*/ 0 h 957263"/>
              <a:gd name="connsiteX1" fmla="*/ 527050 w 3162300"/>
              <a:gd name="connsiteY1" fmla="*/ 0 h 957263"/>
              <a:gd name="connsiteX2" fmla="*/ 1054100 w 3162300"/>
              <a:gd name="connsiteY2" fmla="*/ 0 h 957263"/>
              <a:gd name="connsiteX3" fmla="*/ 1549527 w 3162300"/>
              <a:gd name="connsiteY3" fmla="*/ 0 h 957263"/>
              <a:gd name="connsiteX4" fmla="*/ 2108200 w 3162300"/>
              <a:gd name="connsiteY4" fmla="*/ 0 h 957263"/>
              <a:gd name="connsiteX5" fmla="*/ 2698496 w 3162300"/>
              <a:gd name="connsiteY5" fmla="*/ 0 h 957263"/>
              <a:gd name="connsiteX6" fmla="*/ 3162300 w 3162300"/>
              <a:gd name="connsiteY6" fmla="*/ 0 h 957263"/>
              <a:gd name="connsiteX7" fmla="*/ 3162300 w 3162300"/>
              <a:gd name="connsiteY7" fmla="*/ 488204 h 957263"/>
              <a:gd name="connsiteX8" fmla="*/ 3162300 w 3162300"/>
              <a:gd name="connsiteY8" fmla="*/ 957263 h 957263"/>
              <a:gd name="connsiteX9" fmla="*/ 2603627 w 3162300"/>
              <a:gd name="connsiteY9" fmla="*/ 957263 h 957263"/>
              <a:gd name="connsiteX10" fmla="*/ 2044954 w 3162300"/>
              <a:gd name="connsiteY10" fmla="*/ 957263 h 957263"/>
              <a:gd name="connsiteX11" fmla="*/ 1612773 w 3162300"/>
              <a:gd name="connsiteY11" fmla="*/ 957263 h 957263"/>
              <a:gd name="connsiteX12" fmla="*/ 1085723 w 3162300"/>
              <a:gd name="connsiteY12" fmla="*/ 957263 h 957263"/>
              <a:gd name="connsiteX13" fmla="*/ 621919 w 3162300"/>
              <a:gd name="connsiteY13" fmla="*/ 957263 h 957263"/>
              <a:gd name="connsiteX14" fmla="*/ 0 w 3162300"/>
              <a:gd name="connsiteY14" fmla="*/ 957263 h 957263"/>
              <a:gd name="connsiteX15" fmla="*/ 0 w 3162300"/>
              <a:gd name="connsiteY15" fmla="*/ 459486 h 957263"/>
              <a:gd name="connsiteX16" fmla="*/ 0 w 3162300"/>
              <a:gd name="connsiteY16" fmla="*/ 0 h 95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162300" h="957263" fill="none" extrusionOk="0">
                <a:moveTo>
                  <a:pt x="0" y="0"/>
                </a:moveTo>
                <a:cubicBezTo>
                  <a:pt x="182902" y="-31121"/>
                  <a:pt x="357631" y="29358"/>
                  <a:pt x="527050" y="0"/>
                </a:cubicBezTo>
                <a:cubicBezTo>
                  <a:pt x="696469" y="-29358"/>
                  <a:pt x="855833" y="48467"/>
                  <a:pt x="1054100" y="0"/>
                </a:cubicBezTo>
                <a:cubicBezTo>
                  <a:pt x="1252367" y="-48467"/>
                  <a:pt x="1320733" y="54277"/>
                  <a:pt x="1549527" y="0"/>
                </a:cubicBezTo>
                <a:cubicBezTo>
                  <a:pt x="1778321" y="-54277"/>
                  <a:pt x="1916985" y="43256"/>
                  <a:pt x="2108200" y="0"/>
                </a:cubicBezTo>
                <a:cubicBezTo>
                  <a:pt x="2299415" y="-43256"/>
                  <a:pt x="2475513" y="5266"/>
                  <a:pt x="2698496" y="0"/>
                </a:cubicBezTo>
                <a:cubicBezTo>
                  <a:pt x="2921479" y="-5266"/>
                  <a:pt x="3060626" y="46287"/>
                  <a:pt x="3162300" y="0"/>
                </a:cubicBezTo>
                <a:cubicBezTo>
                  <a:pt x="3164290" y="111815"/>
                  <a:pt x="3157381" y="301203"/>
                  <a:pt x="3162300" y="488204"/>
                </a:cubicBezTo>
                <a:cubicBezTo>
                  <a:pt x="3167219" y="675205"/>
                  <a:pt x="3153111" y="785352"/>
                  <a:pt x="3162300" y="957263"/>
                </a:cubicBezTo>
                <a:cubicBezTo>
                  <a:pt x="3000980" y="971417"/>
                  <a:pt x="2725380" y="938176"/>
                  <a:pt x="2603627" y="957263"/>
                </a:cubicBezTo>
                <a:cubicBezTo>
                  <a:pt x="2481874" y="976350"/>
                  <a:pt x="2304144" y="946786"/>
                  <a:pt x="2044954" y="957263"/>
                </a:cubicBezTo>
                <a:cubicBezTo>
                  <a:pt x="1785764" y="967740"/>
                  <a:pt x="1822472" y="919154"/>
                  <a:pt x="1612773" y="957263"/>
                </a:cubicBezTo>
                <a:cubicBezTo>
                  <a:pt x="1403074" y="995372"/>
                  <a:pt x="1279833" y="933057"/>
                  <a:pt x="1085723" y="957263"/>
                </a:cubicBezTo>
                <a:cubicBezTo>
                  <a:pt x="891613" y="981469"/>
                  <a:pt x="764905" y="925312"/>
                  <a:pt x="621919" y="957263"/>
                </a:cubicBezTo>
                <a:cubicBezTo>
                  <a:pt x="478933" y="989214"/>
                  <a:pt x="143494" y="942438"/>
                  <a:pt x="0" y="957263"/>
                </a:cubicBezTo>
                <a:cubicBezTo>
                  <a:pt x="-17684" y="812847"/>
                  <a:pt x="56917" y="595411"/>
                  <a:pt x="0" y="459486"/>
                </a:cubicBezTo>
                <a:cubicBezTo>
                  <a:pt x="-56917" y="323561"/>
                  <a:pt x="35731" y="225612"/>
                  <a:pt x="0" y="0"/>
                </a:cubicBezTo>
                <a:close/>
              </a:path>
              <a:path w="3162300" h="957263" stroke="0" extrusionOk="0">
                <a:moveTo>
                  <a:pt x="0" y="0"/>
                </a:moveTo>
                <a:cubicBezTo>
                  <a:pt x="264988" y="-37744"/>
                  <a:pt x="435067" y="63201"/>
                  <a:pt x="558673" y="0"/>
                </a:cubicBezTo>
                <a:cubicBezTo>
                  <a:pt x="682279" y="-63201"/>
                  <a:pt x="867281" y="12801"/>
                  <a:pt x="1022477" y="0"/>
                </a:cubicBezTo>
                <a:cubicBezTo>
                  <a:pt x="1177673" y="-12801"/>
                  <a:pt x="1447744" y="64181"/>
                  <a:pt x="1581150" y="0"/>
                </a:cubicBezTo>
                <a:cubicBezTo>
                  <a:pt x="1714556" y="-64181"/>
                  <a:pt x="1873363" y="32799"/>
                  <a:pt x="2139823" y="0"/>
                </a:cubicBezTo>
                <a:cubicBezTo>
                  <a:pt x="2406283" y="-32799"/>
                  <a:pt x="2853829" y="77181"/>
                  <a:pt x="3162300" y="0"/>
                </a:cubicBezTo>
                <a:cubicBezTo>
                  <a:pt x="3178541" y="105168"/>
                  <a:pt x="3115782" y="323275"/>
                  <a:pt x="3162300" y="459486"/>
                </a:cubicBezTo>
                <a:cubicBezTo>
                  <a:pt x="3208818" y="595697"/>
                  <a:pt x="3125158" y="765045"/>
                  <a:pt x="3162300" y="957263"/>
                </a:cubicBezTo>
                <a:cubicBezTo>
                  <a:pt x="2914960" y="982353"/>
                  <a:pt x="2863896" y="937328"/>
                  <a:pt x="2666873" y="957263"/>
                </a:cubicBezTo>
                <a:cubicBezTo>
                  <a:pt x="2469850" y="977198"/>
                  <a:pt x="2292656" y="919473"/>
                  <a:pt x="2139823" y="957263"/>
                </a:cubicBezTo>
                <a:cubicBezTo>
                  <a:pt x="1986990" y="995053"/>
                  <a:pt x="1792388" y="911781"/>
                  <a:pt x="1549527" y="957263"/>
                </a:cubicBezTo>
                <a:cubicBezTo>
                  <a:pt x="1306666" y="1002745"/>
                  <a:pt x="1145894" y="946318"/>
                  <a:pt x="1022477" y="957263"/>
                </a:cubicBezTo>
                <a:cubicBezTo>
                  <a:pt x="899060" y="968208"/>
                  <a:pt x="588944" y="905536"/>
                  <a:pt x="463804" y="957263"/>
                </a:cubicBezTo>
                <a:cubicBezTo>
                  <a:pt x="338664" y="1008990"/>
                  <a:pt x="213368" y="922637"/>
                  <a:pt x="0" y="957263"/>
                </a:cubicBezTo>
                <a:cubicBezTo>
                  <a:pt x="-36357" y="741311"/>
                  <a:pt x="12718" y="590674"/>
                  <a:pt x="0" y="469059"/>
                </a:cubicBezTo>
                <a:cubicBezTo>
                  <a:pt x="-12718" y="347444"/>
                  <a:pt x="7226" y="177758"/>
                  <a:pt x="0" y="0"/>
                </a:cubicBezTo>
                <a:close/>
              </a:path>
            </a:pathLst>
          </a:custGeom>
          <a:solidFill>
            <a:srgbClr val="75E2E4">
              <a:alpha val="50000"/>
            </a:srgbClr>
          </a:solidFill>
          <a:ln>
            <a:solidFill>
              <a:srgbClr val="75E2E4"/>
            </a:solidFill>
            <a:extLst>
              <a:ext uri="{C807C97D-BFC1-408E-A445-0C87EB9F89A2}">
                <ask:lineSketchStyleProps xmlns:ask="http://schemas.microsoft.com/office/drawing/2018/sketchyshapes" sd="3716558623">
                  <ask:type>
                    <ask:lineSketchScribble/>
                  </ask:type>
                </ask:lineSketchStyleProps>
              </a:ext>
            </a:extLst>
          </a:ln>
        </p:spPr>
        <p:style>
          <a:lnRef idx="0">
            <a:scrgbClr r="0" g="0" b="0"/>
          </a:lnRef>
          <a:fillRef idx="0">
            <a:scrgbClr r="0" g="0" b="0"/>
          </a:fillRef>
          <a:effectRef idx="0">
            <a:scrgbClr r="0" g="0" b="0"/>
          </a:effectRef>
          <a:fontRef idx="minor">
            <a:schemeClr val="lt1"/>
          </a:fontRef>
        </p:style>
        <p:txBody>
          <a:bodyPr/>
          <a:lstStyle/>
          <a:p>
            <a:r>
              <a:rPr lang="en-US" dirty="0">
                <a:solidFill>
                  <a:srgbClr val="87193E"/>
                </a:solidFill>
              </a:rPr>
              <a:t>Back-off </a:t>
            </a:r>
            <a:endParaRPr lang="en-DE" dirty="0">
              <a:solidFill>
                <a:srgbClr val="87193E"/>
              </a:solidFill>
            </a:endParaRPr>
          </a:p>
        </p:txBody>
      </p:sp>
      <p:sp>
        <p:nvSpPr>
          <p:cNvPr id="3" name="Subtitle 2">
            <a:extLst>
              <a:ext uri="{FF2B5EF4-FFF2-40B4-BE49-F238E27FC236}">
                <a16:creationId xmlns:a16="http://schemas.microsoft.com/office/drawing/2014/main" id="{9507B5E2-2B4C-EA2E-3053-2A916D3C802C}"/>
              </a:ext>
            </a:extLst>
          </p:cNvPr>
          <p:cNvSpPr>
            <a:spLocks noGrp="1"/>
          </p:cNvSpPr>
          <p:nvPr>
            <p:ph type="subTitle" idx="1"/>
          </p:nvPr>
        </p:nvSpPr>
        <p:spPr>
          <a:xfrm>
            <a:off x="1524000" y="3602038"/>
            <a:ext cx="9144000" cy="957263"/>
          </a:xfrm>
          <a:custGeom>
            <a:avLst/>
            <a:gdLst>
              <a:gd name="connsiteX0" fmla="*/ 0 w 9144000"/>
              <a:gd name="connsiteY0" fmla="*/ 0 h 957263"/>
              <a:gd name="connsiteX1" fmla="*/ 836023 w 9144000"/>
              <a:gd name="connsiteY1" fmla="*/ 0 h 957263"/>
              <a:gd name="connsiteX2" fmla="*/ 1672046 w 9144000"/>
              <a:gd name="connsiteY2" fmla="*/ 0 h 957263"/>
              <a:gd name="connsiteX3" fmla="*/ 2508069 w 9144000"/>
              <a:gd name="connsiteY3" fmla="*/ 0 h 957263"/>
              <a:gd name="connsiteX4" fmla="*/ 2978331 w 9144000"/>
              <a:gd name="connsiteY4" fmla="*/ 0 h 957263"/>
              <a:gd name="connsiteX5" fmla="*/ 3540034 w 9144000"/>
              <a:gd name="connsiteY5" fmla="*/ 0 h 957263"/>
              <a:gd name="connsiteX6" fmla="*/ 4193177 w 9144000"/>
              <a:gd name="connsiteY6" fmla="*/ 0 h 957263"/>
              <a:gd name="connsiteX7" fmla="*/ 4937760 w 9144000"/>
              <a:gd name="connsiteY7" fmla="*/ 0 h 957263"/>
              <a:gd name="connsiteX8" fmla="*/ 5773783 w 9144000"/>
              <a:gd name="connsiteY8" fmla="*/ 0 h 957263"/>
              <a:gd name="connsiteX9" fmla="*/ 6152606 w 9144000"/>
              <a:gd name="connsiteY9" fmla="*/ 0 h 957263"/>
              <a:gd name="connsiteX10" fmla="*/ 6531429 w 9144000"/>
              <a:gd name="connsiteY10" fmla="*/ 0 h 957263"/>
              <a:gd name="connsiteX11" fmla="*/ 7093131 w 9144000"/>
              <a:gd name="connsiteY11" fmla="*/ 0 h 957263"/>
              <a:gd name="connsiteX12" fmla="*/ 7746274 w 9144000"/>
              <a:gd name="connsiteY12" fmla="*/ 0 h 957263"/>
              <a:gd name="connsiteX13" fmla="*/ 8125097 w 9144000"/>
              <a:gd name="connsiteY13" fmla="*/ 0 h 957263"/>
              <a:gd name="connsiteX14" fmla="*/ 9144000 w 9144000"/>
              <a:gd name="connsiteY14" fmla="*/ 0 h 957263"/>
              <a:gd name="connsiteX15" fmla="*/ 9144000 w 9144000"/>
              <a:gd name="connsiteY15" fmla="*/ 488204 h 957263"/>
              <a:gd name="connsiteX16" fmla="*/ 9144000 w 9144000"/>
              <a:gd name="connsiteY16" fmla="*/ 957263 h 957263"/>
              <a:gd name="connsiteX17" fmla="*/ 8765177 w 9144000"/>
              <a:gd name="connsiteY17" fmla="*/ 957263 h 957263"/>
              <a:gd name="connsiteX18" fmla="*/ 8386354 w 9144000"/>
              <a:gd name="connsiteY18" fmla="*/ 957263 h 957263"/>
              <a:gd name="connsiteX19" fmla="*/ 7550331 w 9144000"/>
              <a:gd name="connsiteY19" fmla="*/ 957263 h 957263"/>
              <a:gd name="connsiteX20" fmla="*/ 7171509 w 9144000"/>
              <a:gd name="connsiteY20" fmla="*/ 957263 h 957263"/>
              <a:gd name="connsiteX21" fmla="*/ 6518366 w 9144000"/>
              <a:gd name="connsiteY21" fmla="*/ 957263 h 957263"/>
              <a:gd name="connsiteX22" fmla="*/ 5682343 w 9144000"/>
              <a:gd name="connsiteY22" fmla="*/ 957263 h 957263"/>
              <a:gd name="connsiteX23" fmla="*/ 5212080 w 9144000"/>
              <a:gd name="connsiteY23" fmla="*/ 957263 h 957263"/>
              <a:gd name="connsiteX24" fmla="*/ 4741817 w 9144000"/>
              <a:gd name="connsiteY24" fmla="*/ 957263 h 957263"/>
              <a:gd name="connsiteX25" fmla="*/ 4180114 w 9144000"/>
              <a:gd name="connsiteY25" fmla="*/ 957263 h 957263"/>
              <a:gd name="connsiteX26" fmla="*/ 3526971 w 9144000"/>
              <a:gd name="connsiteY26" fmla="*/ 957263 h 957263"/>
              <a:gd name="connsiteX27" fmla="*/ 3056709 w 9144000"/>
              <a:gd name="connsiteY27" fmla="*/ 957263 h 957263"/>
              <a:gd name="connsiteX28" fmla="*/ 2586446 w 9144000"/>
              <a:gd name="connsiteY28" fmla="*/ 957263 h 957263"/>
              <a:gd name="connsiteX29" fmla="*/ 2207623 w 9144000"/>
              <a:gd name="connsiteY29" fmla="*/ 957263 h 957263"/>
              <a:gd name="connsiteX30" fmla="*/ 1463040 w 9144000"/>
              <a:gd name="connsiteY30" fmla="*/ 957263 h 957263"/>
              <a:gd name="connsiteX31" fmla="*/ 901337 w 9144000"/>
              <a:gd name="connsiteY31" fmla="*/ 957263 h 957263"/>
              <a:gd name="connsiteX32" fmla="*/ 0 w 9144000"/>
              <a:gd name="connsiteY32" fmla="*/ 957263 h 957263"/>
              <a:gd name="connsiteX33" fmla="*/ 0 w 9144000"/>
              <a:gd name="connsiteY33" fmla="*/ 497777 h 957263"/>
              <a:gd name="connsiteX34" fmla="*/ 0 w 9144000"/>
              <a:gd name="connsiteY34" fmla="*/ 0 h 957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144000" h="957263" fill="none" extrusionOk="0">
                <a:moveTo>
                  <a:pt x="0" y="0"/>
                </a:moveTo>
                <a:cubicBezTo>
                  <a:pt x="170826" y="-1077"/>
                  <a:pt x="593567" y="20257"/>
                  <a:pt x="836023" y="0"/>
                </a:cubicBezTo>
                <a:cubicBezTo>
                  <a:pt x="1078479" y="-20257"/>
                  <a:pt x="1392522" y="35461"/>
                  <a:pt x="1672046" y="0"/>
                </a:cubicBezTo>
                <a:cubicBezTo>
                  <a:pt x="1951570" y="-35461"/>
                  <a:pt x="2229790" y="-39834"/>
                  <a:pt x="2508069" y="0"/>
                </a:cubicBezTo>
                <a:cubicBezTo>
                  <a:pt x="2786348" y="39834"/>
                  <a:pt x="2879983" y="-20381"/>
                  <a:pt x="2978331" y="0"/>
                </a:cubicBezTo>
                <a:cubicBezTo>
                  <a:pt x="3076679" y="20381"/>
                  <a:pt x="3427662" y="-22424"/>
                  <a:pt x="3540034" y="0"/>
                </a:cubicBezTo>
                <a:cubicBezTo>
                  <a:pt x="3652406" y="22424"/>
                  <a:pt x="3951676" y="-6789"/>
                  <a:pt x="4193177" y="0"/>
                </a:cubicBezTo>
                <a:cubicBezTo>
                  <a:pt x="4434678" y="6789"/>
                  <a:pt x="4595057" y="9858"/>
                  <a:pt x="4937760" y="0"/>
                </a:cubicBezTo>
                <a:cubicBezTo>
                  <a:pt x="5280463" y="-9858"/>
                  <a:pt x="5576275" y="-27056"/>
                  <a:pt x="5773783" y="0"/>
                </a:cubicBezTo>
                <a:cubicBezTo>
                  <a:pt x="5971291" y="27056"/>
                  <a:pt x="6050841" y="11956"/>
                  <a:pt x="6152606" y="0"/>
                </a:cubicBezTo>
                <a:cubicBezTo>
                  <a:pt x="6254371" y="-11956"/>
                  <a:pt x="6410733" y="1550"/>
                  <a:pt x="6531429" y="0"/>
                </a:cubicBezTo>
                <a:cubicBezTo>
                  <a:pt x="6652125" y="-1550"/>
                  <a:pt x="6829160" y="10911"/>
                  <a:pt x="7093131" y="0"/>
                </a:cubicBezTo>
                <a:cubicBezTo>
                  <a:pt x="7357102" y="-10911"/>
                  <a:pt x="7484318" y="16434"/>
                  <a:pt x="7746274" y="0"/>
                </a:cubicBezTo>
                <a:cubicBezTo>
                  <a:pt x="8008230" y="-16434"/>
                  <a:pt x="8041951" y="411"/>
                  <a:pt x="8125097" y="0"/>
                </a:cubicBezTo>
                <a:cubicBezTo>
                  <a:pt x="8208243" y="-411"/>
                  <a:pt x="8689492" y="8934"/>
                  <a:pt x="9144000" y="0"/>
                </a:cubicBezTo>
                <a:cubicBezTo>
                  <a:pt x="9122743" y="199312"/>
                  <a:pt x="9149284" y="258220"/>
                  <a:pt x="9144000" y="488204"/>
                </a:cubicBezTo>
                <a:cubicBezTo>
                  <a:pt x="9138716" y="718188"/>
                  <a:pt x="9121665" y="788830"/>
                  <a:pt x="9144000" y="957263"/>
                </a:cubicBezTo>
                <a:cubicBezTo>
                  <a:pt x="9027992" y="964574"/>
                  <a:pt x="8845088" y="952859"/>
                  <a:pt x="8765177" y="957263"/>
                </a:cubicBezTo>
                <a:cubicBezTo>
                  <a:pt x="8685266" y="961667"/>
                  <a:pt x="8493891" y="973392"/>
                  <a:pt x="8386354" y="957263"/>
                </a:cubicBezTo>
                <a:cubicBezTo>
                  <a:pt x="8278817" y="941134"/>
                  <a:pt x="7821314" y="955153"/>
                  <a:pt x="7550331" y="957263"/>
                </a:cubicBezTo>
                <a:cubicBezTo>
                  <a:pt x="7279348" y="959373"/>
                  <a:pt x="7336349" y="956083"/>
                  <a:pt x="7171509" y="957263"/>
                </a:cubicBezTo>
                <a:cubicBezTo>
                  <a:pt x="7006669" y="958443"/>
                  <a:pt x="6692374" y="936709"/>
                  <a:pt x="6518366" y="957263"/>
                </a:cubicBezTo>
                <a:cubicBezTo>
                  <a:pt x="6344358" y="977817"/>
                  <a:pt x="6011195" y="997160"/>
                  <a:pt x="5682343" y="957263"/>
                </a:cubicBezTo>
                <a:cubicBezTo>
                  <a:pt x="5353491" y="917366"/>
                  <a:pt x="5323791" y="957581"/>
                  <a:pt x="5212080" y="957263"/>
                </a:cubicBezTo>
                <a:cubicBezTo>
                  <a:pt x="5100369" y="956945"/>
                  <a:pt x="4896453" y="962421"/>
                  <a:pt x="4741817" y="957263"/>
                </a:cubicBezTo>
                <a:cubicBezTo>
                  <a:pt x="4587181" y="952105"/>
                  <a:pt x="4342089" y="982128"/>
                  <a:pt x="4180114" y="957263"/>
                </a:cubicBezTo>
                <a:cubicBezTo>
                  <a:pt x="4018139" y="932398"/>
                  <a:pt x="3660756" y="957803"/>
                  <a:pt x="3526971" y="957263"/>
                </a:cubicBezTo>
                <a:cubicBezTo>
                  <a:pt x="3393186" y="956723"/>
                  <a:pt x="3231446" y="941384"/>
                  <a:pt x="3056709" y="957263"/>
                </a:cubicBezTo>
                <a:cubicBezTo>
                  <a:pt x="2881972" y="973142"/>
                  <a:pt x="2726342" y="953537"/>
                  <a:pt x="2586446" y="957263"/>
                </a:cubicBezTo>
                <a:cubicBezTo>
                  <a:pt x="2446550" y="960989"/>
                  <a:pt x="2315952" y="954942"/>
                  <a:pt x="2207623" y="957263"/>
                </a:cubicBezTo>
                <a:cubicBezTo>
                  <a:pt x="2099294" y="959584"/>
                  <a:pt x="1791483" y="960231"/>
                  <a:pt x="1463040" y="957263"/>
                </a:cubicBezTo>
                <a:cubicBezTo>
                  <a:pt x="1134597" y="954295"/>
                  <a:pt x="1034083" y="952841"/>
                  <a:pt x="901337" y="957263"/>
                </a:cubicBezTo>
                <a:cubicBezTo>
                  <a:pt x="768591" y="961685"/>
                  <a:pt x="198456" y="931682"/>
                  <a:pt x="0" y="957263"/>
                </a:cubicBezTo>
                <a:cubicBezTo>
                  <a:pt x="-9959" y="836359"/>
                  <a:pt x="10821" y="681879"/>
                  <a:pt x="0" y="497777"/>
                </a:cubicBezTo>
                <a:cubicBezTo>
                  <a:pt x="-10821" y="313675"/>
                  <a:pt x="5838" y="187667"/>
                  <a:pt x="0" y="0"/>
                </a:cubicBezTo>
                <a:close/>
              </a:path>
              <a:path w="9144000" h="957263" stroke="0" extrusionOk="0">
                <a:moveTo>
                  <a:pt x="0" y="0"/>
                </a:moveTo>
                <a:cubicBezTo>
                  <a:pt x="351101" y="16126"/>
                  <a:pt x="569587" y="34967"/>
                  <a:pt x="836023" y="0"/>
                </a:cubicBezTo>
                <a:cubicBezTo>
                  <a:pt x="1102459" y="-34967"/>
                  <a:pt x="1087540" y="17772"/>
                  <a:pt x="1214846" y="0"/>
                </a:cubicBezTo>
                <a:cubicBezTo>
                  <a:pt x="1342152" y="-17772"/>
                  <a:pt x="1616343" y="-17584"/>
                  <a:pt x="1867989" y="0"/>
                </a:cubicBezTo>
                <a:cubicBezTo>
                  <a:pt x="2119635" y="17584"/>
                  <a:pt x="2072626" y="-17200"/>
                  <a:pt x="2246811" y="0"/>
                </a:cubicBezTo>
                <a:cubicBezTo>
                  <a:pt x="2420996" y="17200"/>
                  <a:pt x="2507570" y="-5196"/>
                  <a:pt x="2717074" y="0"/>
                </a:cubicBezTo>
                <a:cubicBezTo>
                  <a:pt x="2926578" y="5196"/>
                  <a:pt x="3264857" y="-4864"/>
                  <a:pt x="3553097" y="0"/>
                </a:cubicBezTo>
                <a:cubicBezTo>
                  <a:pt x="3841337" y="4864"/>
                  <a:pt x="3830441" y="-14107"/>
                  <a:pt x="4023360" y="0"/>
                </a:cubicBezTo>
                <a:cubicBezTo>
                  <a:pt x="4216279" y="14107"/>
                  <a:pt x="4566069" y="-11226"/>
                  <a:pt x="4859383" y="0"/>
                </a:cubicBezTo>
                <a:cubicBezTo>
                  <a:pt x="5152697" y="11226"/>
                  <a:pt x="5179075" y="-7463"/>
                  <a:pt x="5421086" y="0"/>
                </a:cubicBezTo>
                <a:cubicBezTo>
                  <a:pt x="5663097" y="7463"/>
                  <a:pt x="5766892" y="-17916"/>
                  <a:pt x="5891349" y="0"/>
                </a:cubicBezTo>
                <a:cubicBezTo>
                  <a:pt x="6015806" y="17916"/>
                  <a:pt x="6430048" y="11738"/>
                  <a:pt x="6727371" y="0"/>
                </a:cubicBezTo>
                <a:cubicBezTo>
                  <a:pt x="7024694" y="-11738"/>
                  <a:pt x="7091736" y="-5221"/>
                  <a:pt x="7197634" y="0"/>
                </a:cubicBezTo>
                <a:cubicBezTo>
                  <a:pt x="7303532" y="5221"/>
                  <a:pt x="7564157" y="-6490"/>
                  <a:pt x="7667897" y="0"/>
                </a:cubicBezTo>
                <a:cubicBezTo>
                  <a:pt x="7771637" y="6490"/>
                  <a:pt x="7983147" y="-1229"/>
                  <a:pt x="8138160" y="0"/>
                </a:cubicBezTo>
                <a:cubicBezTo>
                  <a:pt x="8293173" y="1229"/>
                  <a:pt x="8797555" y="45272"/>
                  <a:pt x="9144000" y="0"/>
                </a:cubicBezTo>
                <a:cubicBezTo>
                  <a:pt x="9142730" y="140266"/>
                  <a:pt x="9159149" y="345888"/>
                  <a:pt x="9144000" y="488204"/>
                </a:cubicBezTo>
                <a:cubicBezTo>
                  <a:pt x="9128851" y="630520"/>
                  <a:pt x="9133330" y="723239"/>
                  <a:pt x="9144000" y="957263"/>
                </a:cubicBezTo>
                <a:cubicBezTo>
                  <a:pt x="8831949" y="987983"/>
                  <a:pt x="8552571" y="920170"/>
                  <a:pt x="8399417" y="957263"/>
                </a:cubicBezTo>
                <a:cubicBezTo>
                  <a:pt x="8246263" y="994356"/>
                  <a:pt x="8062179" y="957219"/>
                  <a:pt x="7746274" y="957263"/>
                </a:cubicBezTo>
                <a:cubicBezTo>
                  <a:pt x="7430369" y="957307"/>
                  <a:pt x="7251397" y="949497"/>
                  <a:pt x="6910251" y="957263"/>
                </a:cubicBezTo>
                <a:cubicBezTo>
                  <a:pt x="6569105" y="965029"/>
                  <a:pt x="6676339" y="952398"/>
                  <a:pt x="6531429" y="957263"/>
                </a:cubicBezTo>
                <a:cubicBezTo>
                  <a:pt x="6386519" y="962128"/>
                  <a:pt x="6257330" y="947955"/>
                  <a:pt x="6152606" y="957263"/>
                </a:cubicBezTo>
                <a:cubicBezTo>
                  <a:pt x="6047882" y="966571"/>
                  <a:pt x="5795861" y="941202"/>
                  <a:pt x="5590903" y="957263"/>
                </a:cubicBezTo>
                <a:cubicBezTo>
                  <a:pt x="5385945" y="973324"/>
                  <a:pt x="5070965" y="957598"/>
                  <a:pt x="4846320" y="957263"/>
                </a:cubicBezTo>
                <a:cubicBezTo>
                  <a:pt x="4621675" y="956928"/>
                  <a:pt x="4495021" y="936015"/>
                  <a:pt x="4376057" y="957263"/>
                </a:cubicBezTo>
                <a:cubicBezTo>
                  <a:pt x="4257093" y="978511"/>
                  <a:pt x="3810474" y="989067"/>
                  <a:pt x="3540034" y="957263"/>
                </a:cubicBezTo>
                <a:cubicBezTo>
                  <a:pt x="3269594" y="925459"/>
                  <a:pt x="3125996" y="950417"/>
                  <a:pt x="2978331" y="957263"/>
                </a:cubicBezTo>
                <a:cubicBezTo>
                  <a:pt x="2830666" y="964109"/>
                  <a:pt x="2650353" y="973672"/>
                  <a:pt x="2416629" y="957263"/>
                </a:cubicBezTo>
                <a:cubicBezTo>
                  <a:pt x="2182905" y="940854"/>
                  <a:pt x="1836282" y="997945"/>
                  <a:pt x="1580606" y="957263"/>
                </a:cubicBezTo>
                <a:cubicBezTo>
                  <a:pt x="1324930" y="916581"/>
                  <a:pt x="976529" y="990922"/>
                  <a:pt x="744583" y="957263"/>
                </a:cubicBezTo>
                <a:cubicBezTo>
                  <a:pt x="512637" y="923604"/>
                  <a:pt x="328988" y="946508"/>
                  <a:pt x="0" y="957263"/>
                </a:cubicBezTo>
                <a:cubicBezTo>
                  <a:pt x="-10593" y="792608"/>
                  <a:pt x="460" y="708487"/>
                  <a:pt x="0" y="478632"/>
                </a:cubicBezTo>
                <a:cubicBezTo>
                  <a:pt x="-460" y="248777"/>
                  <a:pt x="15068" y="169576"/>
                  <a:pt x="0" y="0"/>
                </a:cubicBezTo>
                <a:close/>
              </a:path>
            </a:pathLst>
          </a:custGeom>
          <a:solidFill>
            <a:srgbClr val="75E2E4">
              <a:alpha val="50000"/>
            </a:srgbClr>
          </a:solidFill>
          <a:ln>
            <a:solidFill>
              <a:srgbClr val="75E2E4"/>
            </a:solidFill>
            <a:extLst>
              <a:ext uri="{C807C97D-BFC1-408E-A445-0C87EB9F89A2}">
                <ask:lineSketchStyleProps xmlns:ask="http://schemas.microsoft.com/office/drawing/2018/sketchyshapes" sd="2334338772">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a:lstStyle/>
          <a:p>
            <a:r>
              <a:rPr lang="en-US" dirty="0">
                <a:solidFill>
                  <a:srgbClr val="87193E"/>
                </a:solidFill>
              </a:rPr>
              <a:t>Only for people who are committed to seriously optimize their shape</a:t>
            </a:r>
          </a:p>
          <a:p>
            <a:r>
              <a:rPr lang="en-US" dirty="0">
                <a:solidFill>
                  <a:srgbClr val="87193E"/>
                </a:solidFill>
              </a:rPr>
              <a:t>Backed by psychology and scientific findings </a:t>
            </a:r>
            <a:endParaRPr lang="en-DE" dirty="0">
              <a:solidFill>
                <a:srgbClr val="87193E"/>
              </a:solidFill>
            </a:endParaRPr>
          </a:p>
        </p:txBody>
      </p:sp>
    </p:spTree>
    <p:extLst>
      <p:ext uri="{BB962C8B-B14F-4D97-AF65-F5344CB8AC3E}">
        <p14:creationId xmlns:p14="http://schemas.microsoft.com/office/powerpoint/2010/main" val="4169609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A7A76-7BDE-EA30-6553-FC5EF904B567}"/>
              </a:ext>
            </a:extLst>
          </p:cNvPr>
          <p:cNvSpPr>
            <a:spLocks noGrp="1"/>
          </p:cNvSpPr>
          <p:nvPr>
            <p:ph type="title"/>
          </p:nvPr>
        </p:nvSpPr>
        <p:spPr>
          <a:xfrm>
            <a:off x="838200" y="365125"/>
            <a:ext cx="4867656" cy="530987"/>
          </a:xfrm>
          <a:noFill/>
          <a:ln>
            <a:noFill/>
          </a:ln>
        </p:spPr>
        <p:style>
          <a:lnRef idx="0">
            <a:scrgbClr r="0" g="0" b="0"/>
          </a:lnRef>
          <a:fillRef idx="0">
            <a:scrgbClr r="0" g="0" b="0"/>
          </a:fillRef>
          <a:effectRef idx="0">
            <a:scrgbClr r="0" g="0" b="0"/>
          </a:effectRef>
          <a:fontRef idx="minor">
            <a:schemeClr val="dk1"/>
          </a:fontRef>
        </p:style>
        <p:txBody>
          <a:bodyPr>
            <a:normAutofit/>
          </a:bodyPr>
          <a:lstStyle/>
          <a:p>
            <a:r>
              <a:rPr lang="en-US" sz="1600" dirty="0"/>
              <a:t>Guidelines </a:t>
            </a:r>
            <a:endParaRPr lang="en-DE" sz="1600" dirty="0"/>
          </a:p>
        </p:txBody>
      </p:sp>
      <p:sp>
        <p:nvSpPr>
          <p:cNvPr id="3" name="Content Placeholder 2">
            <a:extLst>
              <a:ext uri="{FF2B5EF4-FFF2-40B4-BE49-F238E27FC236}">
                <a16:creationId xmlns:a16="http://schemas.microsoft.com/office/drawing/2014/main" id="{6BB58E34-311F-9004-D8B3-45A93116DB19}"/>
              </a:ext>
            </a:extLst>
          </p:cNvPr>
          <p:cNvSpPr>
            <a:spLocks noGrp="1"/>
          </p:cNvSpPr>
          <p:nvPr>
            <p:ph idx="1"/>
          </p:nvPr>
        </p:nvSpPr>
        <p:spPr>
          <a:xfrm>
            <a:off x="838200" y="896113"/>
            <a:ext cx="10515600" cy="1377188"/>
          </a:xfrm>
        </p:spPr>
        <p:txBody>
          <a:bodyPr/>
          <a:lstStyle/>
          <a:p>
            <a:r>
              <a:rPr lang="en-US" sz="1400" dirty="0"/>
              <a:t>Using only positive psychology reinforcement: even if player play against each other the purpose of this game is to achieve goals from all parties so players should not hinder each others’ success.</a:t>
            </a:r>
          </a:p>
          <a:p>
            <a:r>
              <a:rPr lang="en-US" sz="1400" dirty="0"/>
              <a:t>Following emotional and personality profiles of risky individuals to increase commitment and reward anticipation.</a:t>
            </a:r>
          </a:p>
          <a:p>
            <a:r>
              <a:rPr lang="en-US" sz="1400" dirty="0"/>
              <a:t>Using triggers that will fire certain brain circuits (backed by brain imaging findings in regard to decision making during risky decisions) to engage and reward the players.</a:t>
            </a:r>
            <a:endParaRPr lang="en-DE" sz="1400" dirty="0"/>
          </a:p>
        </p:txBody>
      </p:sp>
    </p:spTree>
    <p:extLst>
      <p:ext uri="{BB962C8B-B14F-4D97-AF65-F5344CB8AC3E}">
        <p14:creationId xmlns:p14="http://schemas.microsoft.com/office/powerpoint/2010/main" val="3068419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A7A76-7BDE-EA30-6553-FC5EF904B567}"/>
              </a:ext>
            </a:extLst>
          </p:cNvPr>
          <p:cNvSpPr>
            <a:spLocks noGrp="1"/>
          </p:cNvSpPr>
          <p:nvPr>
            <p:ph type="title"/>
          </p:nvPr>
        </p:nvSpPr>
        <p:spPr>
          <a:xfrm>
            <a:off x="838200" y="365125"/>
            <a:ext cx="5526024" cy="530987"/>
          </a:xfrm>
        </p:spPr>
        <p:txBody>
          <a:bodyPr>
            <a:normAutofit/>
          </a:bodyPr>
          <a:lstStyle/>
          <a:p>
            <a:r>
              <a:rPr lang="en-US" sz="1600"/>
              <a:t>Proof of concept</a:t>
            </a:r>
            <a:endParaRPr lang="en-DE" sz="1600" dirty="0"/>
          </a:p>
        </p:txBody>
      </p:sp>
      <p:sp>
        <p:nvSpPr>
          <p:cNvPr id="3" name="Content Placeholder 2">
            <a:extLst>
              <a:ext uri="{FF2B5EF4-FFF2-40B4-BE49-F238E27FC236}">
                <a16:creationId xmlns:a16="http://schemas.microsoft.com/office/drawing/2014/main" id="{6BB58E34-311F-9004-D8B3-45A93116DB19}"/>
              </a:ext>
            </a:extLst>
          </p:cNvPr>
          <p:cNvSpPr>
            <a:spLocks noGrp="1"/>
          </p:cNvSpPr>
          <p:nvPr>
            <p:ph idx="1"/>
          </p:nvPr>
        </p:nvSpPr>
        <p:spPr>
          <a:xfrm>
            <a:off x="838200" y="896112"/>
            <a:ext cx="10515600" cy="5280851"/>
          </a:xfrm>
        </p:spPr>
        <p:txBody>
          <a:bodyPr/>
          <a:lstStyle/>
          <a:p>
            <a:r>
              <a:rPr lang="en-US" sz="1400"/>
              <a:t>This game was tested physically by the developers, before it was digitalized.</a:t>
            </a:r>
          </a:p>
          <a:p>
            <a:r>
              <a:rPr lang="en-US" sz="1400"/>
              <a:t>The exact same guidelines were implemented.</a:t>
            </a:r>
          </a:p>
          <a:p>
            <a:r>
              <a:rPr lang="en-US" sz="1400"/>
              <a:t>The results are apparent and documented.</a:t>
            </a:r>
          </a:p>
          <a:p>
            <a:r>
              <a:rPr lang="en-US" sz="1400"/>
              <a:t>The concepts were modified on the fly during the physical testing phase, to adapt to missing guidelines or fun factors or engagement factors to keep the developers hooked and make them able to achieve their goals.</a:t>
            </a:r>
          </a:p>
          <a:p>
            <a:endParaRPr lang="en-DE" sz="1400" dirty="0"/>
          </a:p>
        </p:txBody>
      </p:sp>
    </p:spTree>
    <p:extLst>
      <p:ext uri="{BB962C8B-B14F-4D97-AF65-F5344CB8AC3E}">
        <p14:creationId xmlns:p14="http://schemas.microsoft.com/office/powerpoint/2010/main" val="4140667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A7A76-7BDE-EA30-6553-FC5EF904B567}"/>
              </a:ext>
            </a:extLst>
          </p:cNvPr>
          <p:cNvSpPr>
            <a:spLocks noGrp="1"/>
          </p:cNvSpPr>
          <p:nvPr>
            <p:ph type="title"/>
          </p:nvPr>
        </p:nvSpPr>
        <p:spPr>
          <a:xfrm>
            <a:off x="838200" y="365125"/>
            <a:ext cx="5526024" cy="530987"/>
          </a:xfrm>
        </p:spPr>
        <p:txBody>
          <a:bodyPr>
            <a:normAutofit/>
          </a:bodyPr>
          <a:lstStyle/>
          <a:p>
            <a:r>
              <a:rPr lang="en-US" sz="1600" dirty="0"/>
              <a:t>Game concept: step by step guide</a:t>
            </a:r>
            <a:endParaRPr lang="en-DE" sz="1600" dirty="0"/>
          </a:p>
        </p:txBody>
      </p:sp>
      <p:sp>
        <p:nvSpPr>
          <p:cNvPr id="3" name="Content Placeholder 2">
            <a:extLst>
              <a:ext uri="{FF2B5EF4-FFF2-40B4-BE49-F238E27FC236}">
                <a16:creationId xmlns:a16="http://schemas.microsoft.com/office/drawing/2014/main" id="{6BB58E34-311F-9004-D8B3-45A93116DB19}"/>
              </a:ext>
            </a:extLst>
          </p:cNvPr>
          <p:cNvSpPr>
            <a:spLocks noGrp="1"/>
          </p:cNvSpPr>
          <p:nvPr>
            <p:ph idx="1"/>
          </p:nvPr>
        </p:nvSpPr>
        <p:spPr>
          <a:xfrm>
            <a:off x="838200" y="896112"/>
            <a:ext cx="10515600" cy="5888736"/>
          </a:xfrm>
        </p:spPr>
        <p:txBody>
          <a:bodyPr/>
          <a:lstStyle/>
          <a:p>
            <a:r>
              <a:rPr lang="en-US" sz="1400" dirty="0"/>
              <a:t>Once the player is approved and registered, they are bound for exactly one year.</a:t>
            </a:r>
          </a:p>
          <a:p>
            <a:r>
              <a:rPr lang="en-US" sz="1400" dirty="0"/>
              <a:t>At the start of game, all players will play against each other for the 1</a:t>
            </a:r>
            <a:r>
              <a:rPr lang="en-US" sz="1400" baseline="30000" dirty="0"/>
              <a:t>st</a:t>
            </a:r>
            <a:r>
              <a:rPr lang="en-US" sz="1400" dirty="0"/>
              <a:t> 3 months. (here where the real and most gain happens)</a:t>
            </a:r>
          </a:p>
          <a:p>
            <a:r>
              <a:rPr lang="en-US" sz="1400" dirty="0"/>
              <a:t>Each player will start with an initial monetary deposit of 360euro. </a:t>
            </a:r>
          </a:p>
          <a:p>
            <a:r>
              <a:rPr lang="en-US" sz="1400" dirty="0"/>
              <a:t>Whenever a player goes to the gym, the player will withdraw 10euro from the other players funds.</a:t>
            </a:r>
          </a:p>
          <a:p>
            <a:r>
              <a:rPr lang="en-US" sz="1400" dirty="0"/>
              <a:t>The players must the gym at least go 3xweek. Making the player withdraw 30euro per week from each other opponent.</a:t>
            </a:r>
          </a:p>
          <a:p>
            <a:r>
              <a:rPr lang="en-US" sz="1400" dirty="0"/>
              <a:t>The maximum amount to withdraw from a single opponent is 30euros per week. Even if a player decides to go more often to the gym, they can NOT withdraw money from opponents. </a:t>
            </a:r>
          </a:p>
          <a:p>
            <a:r>
              <a:rPr lang="en-US" sz="1400" dirty="0"/>
              <a:t>The player will only be able to withdraw the money (automatically done), if they take a real-time picture of themselves within a certified gym </a:t>
            </a:r>
            <a:r>
              <a:rPr lang="en-US" sz="1000" dirty="0"/>
              <a:t>(see requirements and avoiding cheating pages)</a:t>
            </a:r>
            <a:r>
              <a:rPr lang="en-US" sz="1400" dirty="0"/>
              <a:t> .  </a:t>
            </a:r>
          </a:p>
          <a:p>
            <a:r>
              <a:rPr lang="en-US" sz="1400" dirty="0"/>
              <a:t>We use a regulation system, of rounds. Each round is exactly 3months, where money/funds are reset. </a:t>
            </a:r>
          </a:p>
          <a:p>
            <a:r>
              <a:rPr lang="en-US" sz="1400" dirty="0"/>
              <a:t>We use a leveling system, of 3 different levels starting the 2</a:t>
            </a:r>
            <a:r>
              <a:rPr lang="en-US" sz="1400" baseline="30000" dirty="0"/>
              <a:t>nd</a:t>
            </a:r>
            <a:r>
              <a:rPr lang="en-US" sz="1400" dirty="0"/>
              <a:t> round of the game (after 3 months from game-start).</a:t>
            </a:r>
          </a:p>
          <a:p>
            <a:r>
              <a:rPr lang="en-US" sz="1400" dirty="0"/>
              <a:t>The highest level, contains different groups of exactly 3 players, contains opponents keeping their funds at always 360euros.</a:t>
            </a:r>
          </a:p>
          <a:p>
            <a:r>
              <a:rPr lang="en-US" sz="1400" dirty="0"/>
              <a:t>The lower levels, contains different groups of exactly 6 players, contain opponents with different funds but all &lt; 360euros. </a:t>
            </a:r>
          </a:p>
          <a:p>
            <a:r>
              <a:rPr lang="en-US" sz="1400" dirty="0"/>
              <a:t>The lowest level, contain opponents with 0euro funds. This group will not be limited by the number of players, rather maximized in the number of the players. </a:t>
            </a:r>
          </a:p>
          <a:p>
            <a:r>
              <a:rPr lang="en-US" sz="1400" dirty="0"/>
              <a:t>If within a group after a round (3 months) we detect a large margin/discrepancy between the players, the not-committed players will be down-leveled and the committed ones will be up-leveled.</a:t>
            </a:r>
          </a:p>
          <a:p>
            <a:pPr marL="0" indent="0">
              <a:buNone/>
            </a:pPr>
            <a:endParaRPr lang="en-US" sz="1400" dirty="0"/>
          </a:p>
          <a:p>
            <a:endParaRPr lang="en-US" sz="1400" dirty="0"/>
          </a:p>
          <a:p>
            <a:endParaRPr lang="en-DE" sz="1400" dirty="0"/>
          </a:p>
        </p:txBody>
      </p:sp>
    </p:spTree>
    <p:extLst>
      <p:ext uri="{BB962C8B-B14F-4D97-AF65-F5344CB8AC3E}">
        <p14:creationId xmlns:p14="http://schemas.microsoft.com/office/powerpoint/2010/main" val="2368126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A7A76-7BDE-EA30-6553-FC5EF904B567}"/>
              </a:ext>
            </a:extLst>
          </p:cNvPr>
          <p:cNvSpPr>
            <a:spLocks noGrp="1"/>
          </p:cNvSpPr>
          <p:nvPr>
            <p:ph type="title"/>
          </p:nvPr>
        </p:nvSpPr>
        <p:spPr>
          <a:xfrm>
            <a:off x="838200" y="365125"/>
            <a:ext cx="5526024" cy="530987"/>
          </a:xfrm>
        </p:spPr>
        <p:txBody>
          <a:bodyPr>
            <a:normAutofit/>
          </a:bodyPr>
          <a:lstStyle/>
          <a:p>
            <a:r>
              <a:rPr lang="en-US" sz="1600" dirty="0"/>
              <a:t>Game concept: step by step guide</a:t>
            </a:r>
            <a:endParaRPr lang="en-DE" sz="1600" dirty="0"/>
          </a:p>
        </p:txBody>
      </p:sp>
      <p:sp>
        <p:nvSpPr>
          <p:cNvPr id="3" name="Content Placeholder 2">
            <a:extLst>
              <a:ext uri="{FF2B5EF4-FFF2-40B4-BE49-F238E27FC236}">
                <a16:creationId xmlns:a16="http://schemas.microsoft.com/office/drawing/2014/main" id="{6BB58E34-311F-9004-D8B3-45A93116DB19}"/>
              </a:ext>
            </a:extLst>
          </p:cNvPr>
          <p:cNvSpPr>
            <a:spLocks noGrp="1"/>
          </p:cNvSpPr>
          <p:nvPr>
            <p:ph idx="1"/>
          </p:nvPr>
        </p:nvSpPr>
        <p:spPr>
          <a:xfrm>
            <a:off x="838200" y="896112"/>
            <a:ext cx="10515600" cy="5888736"/>
          </a:xfrm>
        </p:spPr>
        <p:txBody>
          <a:bodyPr/>
          <a:lstStyle/>
          <a:p>
            <a:r>
              <a:rPr lang="en-US" sz="1400" dirty="0"/>
              <a:t>The lowest level group, can still participate in the game with no funds for exactly 3 month (one round) among themselves, evidently with NO GAINS.</a:t>
            </a:r>
          </a:p>
          <a:p>
            <a:r>
              <a:rPr lang="en-US" sz="1400" dirty="0"/>
              <a:t>If a participant displays commitment (3xweek with authorized uploads), the player will be directed to FILL their funds 360euro and then leveled up to participate in the game again.</a:t>
            </a:r>
          </a:p>
          <a:p>
            <a:r>
              <a:rPr lang="en-US" sz="1400" dirty="0"/>
              <a:t>If No commitment is displayed after 3 months, players right to play will be revoked and they will kicked out of the game. (they can of course start the game again next year)</a:t>
            </a:r>
          </a:p>
          <a:p>
            <a:r>
              <a:rPr lang="en-US" sz="1400" dirty="0"/>
              <a:t>After every 3 months, we regulate the funds for all levels: </a:t>
            </a:r>
          </a:p>
          <a:p>
            <a:pPr lvl="1"/>
            <a:r>
              <a:rPr lang="en-US" sz="1400" dirty="0"/>
              <a:t>Participants with &gt;= 360euro will get the extra gain wired to them and leveled up t the highest level.</a:t>
            </a:r>
          </a:p>
          <a:p>
            <a:pPr lvl="1"/>
            <a:r>
              <a:rPr lang="en-US" sz="1400" dirty="0"/>
              <a:t>Participant with &lt; 360euro will get leveled down. </a:t>
            </a:r>
          </a:p>
          <a:p>
            <a:pPr lvl="1"/>
            <a:r>
              <a:rPr lang="en-US" sz="1400" dirty="0"/>
              <a:t>Participants with &lt; 360 after another iteration of 3 months but all displayed same level of commitment of 3xweek, will either have the possibility to reset their funds to 360 (wire missing funds) or keep on participating in the lower levels and maybe win their money back if others are half-committed/not-committed within the follow-up round.</a:t>
            </a:r>
          </a:p>
          <a:p>
            <a:r>
              <a:rPr lang="en-US" sz="1400" dirty="0"/>
              <a:t>The regulation system, creates an opportunity for the half-committed people to gain their money back if they start committing again.</a:t>
            </a:r>
          </a:p>
          <a:p>
            <a:r>
              <a:rPr lang="en-US" sz="1400" dirty="0"/>
              <a:t>The regulation system, protects the highest-level players’ funds, by only making them pay once and never losing any money. </a:t>
            </a:r>
          </a:p>
          <a:p>
            <a:r>
              <a:rPr lang="en-US" sz="1400" dirty="0"/>
              <a:t>After 1 year: </a:t>
            </a:r>
          </a:p>
          <a:p>
            <a:pPr lvl="1"/>
            <a:r>
              <a:rPr lang="en-US" sz="1400" dirty="0"/>
              <a:t>Participants with =360 euro, will get asked if they want to participate in the game for another year with these funds, if not they get their 360euro back </a:t>
            </a:r>
            <a:r>
              <a:rPr lang="en-US" sz="1400" dirty="0">
                <a:sym typeface="Wingdings" panose="05000000000000000000" pitchFamily="2" charset="2"/>
              </a:rPr>
              <a:t> </a:t>
            </a:r>
          </a:p>
          <a:p>
            <a:pPr lvl="1"/>
            <a:r>
              <a:rPr lang="en-US" sz="1400" dirty="0">
                <a:sym typeface="Wingdings" panose="05000000000000000000" pitchFamily="2" charset="2"/>
              </a:rPr>
              <a:t>Participants with &lt;360euro, will lose ALL their money, and this money will go to the developers  (there is a loophole here: if players 3 months prior to end of year, reset their funds to 360 and commit to just these 3 months they will not lose any money, our goal is to help our players achieve their goals not punish them harder than life is already doing)</a:t>
            </a:r>
          </a:p>
          <a:p>
            <a:pPr lvl="1"/>
            <a:endParaRPr lang="en-US" sz="1400" dirty="0"/>
          </a:p>
          <a:p>
            <a:pPr marL="0" indent="0">
              <a:buNone/>
            </a:pPr>
            <a:endParaRPr lang="en-US" sz="1400" dirty="0"/>
          </a:p>
          <a:p>
            <a:endParaRPr lang="en-US" sz="1400" dirty="0"/>
          </a:p>
          <a:p>
            <a:endParaRPr lang="en-DE" sz="1400" dirty="0"/>
          </a:p>
        </p:txBody>
      </p:sp>
    </p:spTree>
    <p:extLst>
      <p:ext uri="{BB962C8B-B14F-4D97-AF65-F5344CB8AC3E}">
        <p14:creationId xmlns:p14="http://schemas.microsoft.com/office/powerpoint/2010/main" val="1009302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A7A76-7BDE-EA30-6553-FC5EF904B567}"/>
              </a:ext>
            </a:extLst>
          </p:cNvPr>
          <p:cNvSpPr>
            <a:spLocks noGrp="1"/>
          </p:cNvSpPr>
          <p:nvPr>
            <p:ph type="title"/>
          </p:nvPr>
        </p:nvSpPr>
        <p:spPr>
          <a:xfrm>
            <a:off x="838200" y="365125"/>
            <a:ext cx="5526024" cy="530987"/>
          </a:xfrm>
        </p:spPr>
        <p:txBody>
          <a:bodyPr>
            <a:normAutofit/>
          </a:bodyPr>
          <a:lstStyle/>
          <a:p>
            <a:r>
              <a:rPr lang="en-US" sz="1600" dirty="0"/>
              <a:t>Requirements to play</a:t>
            </a:r>
            <a:endParaRPr lang="en-DE" sz="1600" dirty="0"/>
          </a:p>
        </p:txBody>
      </p:sp>
      <p:sp>
        <p:nvSpPr>
          <p:cNvPr id="3" name="Content Placeholder 2">
            <a:extLst>
              <a:ext uri="{FF2B5EF4-FFF2-40B4-BE49-F238E27FC236}">
                <a16:creationId xmlns:a16="http://schemas.microsoft.com/office/drawing/2014/main" id="{6BB58E34-311F-9004-D8B3-45A93116DB19}"/>
              </a:ext>
            </a:extLst>
          </p:cNvPr>
          <p:cNvSpPr>
            <a:spLocks noGrp="1"/>
          </p:cNvSpPr>
          <p:nvPr>
            <p:ph idx="1"/>
          </p:nvPr>
        </p:nvSpPr>
        <p:spPr>
          <a:xfrm>
            <a:off x="838200" y="896112"/>
            <a:ext cx="10515600" cy="5280851"/>
          </a:xfrm>
        </p:spPr>
        <p:txBody>
          <a:bodyPr>
            <a:normAutofit lnSpcReduction="10000"/>
          </a:bodyPr>
          <a:lstStyle/>
          <a:p>
            <a:r>
              <a:rPr lang="en-US" sz="1400" dirty="0"/>
              <a:t>Players need to have a certain amount of money that is paid in advance.</a:t>
            </a:r>
          </a:p>
          <a:p>
            <a:r>
              <a:rPr lang="en-US" sz="1400" dirty="0"/>
              <a:t>Players can NOT participate nor enter the game if they did not pay the initial fund.</a:t>
            </a:r>
          </a:p>
          <a:p>
            <a:r>
              <a:rPr lang="en-US" sz="1400" dirty="0"/>
              <a:t>Players' admission is only possible at the start of the year.</a:t>
            </a:r>
          </a:p>
          <a:p>
            <a:r>
              <a:rPr lang="en-US" sz="1400" dirty="0"/>
              <a:t>We will not get access to the bank account nor make automatic withdrawals. We will only authorize the playing after receiving the initial funds. </a:t>
            </a:r>
          </a:p>
          <a:p>
            <a:r>
              <a:rPr lang="en-US" sz="1400" dirty="0"/>
              <a:t>These funds are NOT refundable for non-committed participants. These funds are used solely within the game.</a:t>
            </a:r>
          </a:p>
          <a:p>
            <a:r>
              <a:rPr lang="en-US" sz="1400" dirty="0"/>
              <a:t>Quitting the game is NOT possible, within each year. </a:t>
            </a:r>
          </a:p>
          <a:p>
            <a:r>
              <a:rPr lang="en-US" sz="1400" dirty="0"/>
              <a:t>If the player loses all its funds, they will still be registered for a exactly 3 months before revoking their access to the game if they did not work-out at least one time within this period..</a:t>
            </a:r>
          </a:p>
          <a:p>
            <a:r>
              <a:rPr lang="en-US" sz="1400" dirty="0"/>
              <a:t>Players must be enrolled in a gym. </a:t>
            </a:r>
          </a:p>
          <a:p>
            <a:r>
              <a:rPr lang="en-US" sz="1400" dirty="0"/>
              <a:t>Players must prove their enrollment through an up-to-date legitimate document for their subscription.</a:t>
            </a:r>
          </a:p>
          <a:p>
            <a:r>
              <a:rPr lang="en-US" sz="1400" dirty="0"/>
              <a:t>Players must own and use a fitness watch to track their heartbeat and oxygen levels.</a:t>
            </a:r>
          </a:p>
          <a:p>
            <a:r>
              <a:rPr lang="en-US" sz="1400" dirty="0"/>
              <a:t>Players must own a fitness tracking up that registers all their bio-data.</a:t>
            </a:r>
          </a:p>
          <a:p>
            <a:r>
              <a:rPr lang="en-US" sz="1400" dirty="0"/>
              <a:t>Players must authorize the app to access these data.</a:t>
            </a:r>
          </a:p>
          <a:p>
            <a:r>
              <a:rPr lang="en-US" sz="1400" dirty="0"/>
              <a:t>Players must authorize the app to access their real-time location.</a:t>
            </a:r>
          </a:p>
          <a:p>
            <a:r>
              <a:rPr lang="en-US" sz="1400" dirty="0"/>
              <a:t>Players must make sure that the fitness studio they are enrolled in is tagged as a fitness studio from the geo-service provider.</a:t>
            </a:r>
          </a:p>
          <a:p>
            <a:r>
              <a:rPr lang="en-US" sz="1400" dirty="0"/>
              <a:t>Players must provide an email connected to a </a:t>
            </a:r>
            <a:r>
              <a:rPr lang="en-US" sz="1400" dirty="0" err="1"/>
              <a:t>paypal</a:t>
            </a:r>
            <a:r>
              <a:rPr lang="en-US" sz="1400" dirty="0"/>
              <a:t> account to send them their money gain/refund.</a:t>
            </a:r>
          </a:p>
          <a:p>
            <a:r>
              <a:rPr lang="en-US" sz="1400" dirty="0"/>
              <a:t>These requirements will be checked by us and reminded to the player before depositing the initial funds. </a:t>
            </a:r>
            <a:r>
              <a:rPr lang="en-US" sz="1400" dirty="0">
                <a:sym typeface="Wingdings" panose="05000000000000000000" pitchFamily="2" charset="2"/>
              </a:rPr>
              <a:t> </a:t>
            </a:r>
            <a:endParaRPr lang="en-US" sz="1400" dirty="0"/>
          </a:p>
          <a:p>
            <a:endParaRPr lang="en-DE" sz="1400" dirty="0"/>
          </a:p>
        </p:txBody>
      </p:sp>
    </p:spTree>
    <p:extLst>
      <p:ext uri="{BB962C8B-B14F-4D97-AF65-F5344CB8AC3E}">
        <p14:creationId xmlns:p14="http://schemas.microsoft.com/office/powerpoint/2010/main" val="4286299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A7A76-7BDE-EA30-6553-FC5EF904B567}"/>
              </a:ext>
            </a:extLst>
          </p:cNvPr>
          <p:cNvSpPr>
            <a:spLocks noGrp="1"/>
          </p:cNvSpPr>
          <p:nvPr>
            <p:ph type="title"/>
          </p:nvPr>
        </p:nvSpPr>
        <p:spPr>
          <a:xfrm>
            <a:off x="838200" y="365125"/>
            <a:ext cx="5526024" cy="530987"/>
          </a:xfrm>
        </p:spPr>
        <p:txBody>
          <a:bodyPr>
            <a:normAutofit/>
          </a:bodyPr>
          <a:lstStyle/>
          <a:p>
            <a:r>
              <a:rPr lang="en-US" sz="1600" dirty="0"/>
              <a:t>Avoiding cheating</a:t>
            </a:r>
            <a:endParaRPr lang="en-DE" sz="1600" dirty="0"/>
          </a:p>
        </p:txBody>
      </p:sp>
      <p:sp>
        <p:nvSpPr>
          <p:cNvPr id="3" name="Content Placeholder 2">
            <a:extLst>
              <a:ext uri="{FF2B5EF4-FFF2-40B4-BE49-F238E27FC236}">
                <a16:creationId xmlns:a16="http://schemas.microsoft.com/office/drawing/2014/main" id="{6BB58E34-311F-9004-D8B3-45A93116DB19}"/>
              </a:ext>
            </a:extLst>
          </p:cNvPr>
          <p:cNvSpPr>
            <a:spLocks noGrp="1"/>
          </p:cNvSpPr>
          <p:nvPr>
            <p:ph idx="1"/>
          </p:nvPr>
        </p:nvSpPr>
        <p:spPr>
          <a:xfrm>
            <a:off x="838200" y="896112"/>
            <a:ext cx="10515600" cy="5280851"/>
          </a:xfrm>
        </p:spPr>
        <p:txBody>
          <a:bodyPr/>
          <a:lstStyle/>
          <a:p>
            <a:r>
              <a:rPr lang="en-US" sz="1400" dirty="0"/>
              <a:t>Although we rely to a certain degree on the commitment and honesty of the players, we still take some measures to protect participants.</a:t>
            </a:r>
          </a:p>
          <a:p>
            <a:r>
              <a:rPr lang="en-US" sz="1400" dirty="0"/>
              <a:t>Photos can NOT be uploaded (in future work digital print of the photo would be analyzed and participant can upload) they can only be taken in real time.</a:t>
            </a:r>
          </a:p>
          <a:p>
            <a:r>
              <a:rPr lang="en-US" sz="1400" dirty="0"/>
              <a:t>Photos should contain elements displaying parts of the gym, as the latter will be automatically analyzed. </a:t>
            </a:r>
          </a:p>
          <a:p>
            <a:r>
              <a:rPr lang="en-US" sz="1400" dirty="0"/>
              <a:t>While taking the photo the location is registered in real-time and checked with geo-service provider (e.g. google map </a:t>
            </a:r>
            <a:r>
              <a:rPr lang="en-US" sz="1400" dirty="0" err="1"/>
              <a:t>apk</a:t>
            </a:r>
            <a:r>
              <a:rPr lang="en-US" sz="1400" dirty="0"/>
              <a:t>) and will only be accepted if the location is registered as a fitness studio and the bio-data for at least 30min within 2h period prior to current photo-taking time has registered an activity (increased heart rate for exercise levels and oxygen saturation).</a:t>
            </a:r>
          </a:p>
          <a:p>
            <a:r>
              <a:rPr lang="en-US" sz="1400" dirty="0"/>
              <a:t>Photos will be discarded the moment they are authorized (analyzed and approved), we will not save any collected data from these photos, nor bio-data. </a:t>
            </a:r>
          </a:p>
          <a:p>
            <a:r>
              <a:rPr lang="en-US" sz="1400" dirty="0"/>
              <a:t>Withdrawal of money is only enabled (automatically sent) after positive authorization. </a:t>
            </a:r>
          </a:p>
          <a:p>
            <a:endParaRPr lang="en-DE" sz="1400" dirty="0"/>
          </a:p>
        </p:txBody>
      </p:sp>
    </p:spTree>
    <p:extLst>
      <p:ext uri="{BB962C8B-B14F-4D97-AF65-F5344CB8AC3E}">
        <p14:creationId xmlns:p14="http://schemas.microsoft.com/office/powerpoint/2010/main" val="1767306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A7A76-7BDE-EA30-6553-FC5EF904B567}"/>
              </a:ext>
            </a:extLst>
          </p:cNvPr>
          <p:cNvSpPr>
            <a:spLocks noGrp="1"/>
          </p:cNvSpPr>
          <p:nvPr>
            <p:ph type="title"/>
          </p:nvPr>
        </p:nvSpPr>
        <p:spPr>
          <a:xfrm>
            <a:off x="838200" y="365125"/>
            <a:ext cx="5526024" cy="530987"/>
          </a:xfrm>
        </p:spPr>
        <p:txBody>
          <a:bodyPr>
            <a:normAutofit/>
          </a:bodyPr>
          <a:lstStyle/>
          <a:p>
            <a:r>
              <a:rPr lang="en-US" sz="1600" dirty="0"/>
              <a:t>Reasoning behind the game</a:t>
            </a:r>
            <a:endParaRPr lang="en-DE" sz="1600" dirty="0"/>
          </a:p>
        </p:txBody>
      </p:sp>
      <p:sp>
        <p:nvSpPr>
          <p:cNvPr id="3" name="Content Placeholder 2">
            <a:extLst>
              <a:ext uri="{FF2B5EF4-FFF2-40B4-BE49-F238E27FC236}">
                <a16:creationId xmlns:a16="http://schemas.microsoft.com/office/drawing/2014/main" id="{6BB58E34-311F-9004-D8B3-45A93116DB19}"/>
              </a:ext>
            </a:extLst>
          </p:cNvPr>
          <p:cNvSpPr>
            <a:spLocks noGrp="1"/>
          </p:cNvSpPr>
          <p:nvPr>
            <p:ph idx="1"/>
          </p:nvPr>
        </p:nvSpPr>
        <p:spPr>
          <a:xfrm>
            <a:off x="838200" y="896112"/>
            <a:ext cx="10515600" cy="5280851"/>
          </a:xfrm>
        </p:spPr>
        <p:txBody>
          <a:bodyPr/>
          <a:lstStyle/>
          <a:p>
            <a:r>
              <a:rPr lang="en-US" sz="1400" dirty="0"/>
              <a:t>360euro= 3(days)*10euro(price to pay for one training day)*4(weeks per month)*3(three months).</a:t>
            </a:r>
          </a:p>
          <a:p>
            <a:r>
              <a:rPr lang="en-US" sz="1400" dirty="0"/>
              <a:t>We bind the player for a at least 3 training days per week for at least 3 months at the start of the game.</a:t>
            </a:r>
          </a:p>
          <a:p>
            <a:r>
              <a:rPr lang="en-US" sz="1400" dirty="0"/>
              <a:t>We bind the player for one year of consistency, to effectively embed the habit of working out.</a:t>
            </a:r>
          </a:p>
          <a:p>
            <a:r>
              <a:rPr lang="en-US" sz="1400" dirty="0"/>
              <a:t>We use monetary reward/punishment, as it is the most important aspect of our today’s world.</a:t>
            </a:r>
          </a:p>
          <a:p>
            <a:r>
              <a:rPr lang="en-US" sz="1400" dirty="0"/>
              <a:t>We use funding back, to reward the success of achieving goal and delayed gratification. </a:t>
            </a:r>
          </a:p>
          <a:p>
            <a:r>
              <a:rPr lang="en-US" sz="1400" dirty="0"/>
              <a:t>We use lose all money, to trigger anxiety and push the players to take a safer approach to this game, hence working out.</a:t>
            </a:r>
          </a:p>
          <a:p>
            <a:endParaRPr lang="en-US" sz="1400" dirty="0"/>
          </a:p>
          <a:p>
            <a:endParaRPr lang="en-DE" sz="1400" dirty="0"/>
          </a:p>
        </p:txBody>
      </p:sp>
    </p:spTree>
    <p:extLst>
      <p:ext uri="{BB962C8B-B14F-4D97-AF65-F5344CB8AC3E}">
        <p14:creationId xmlns:p14="http://schemas.microsoft.com/office/powerpoint/2010/main" val="2088083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A7A76-7BDE-EA30-6553-FC5EF904B567}"/>
              </a:ext>
            </a:extLst>
          </p:cNvPr>
          <p:cNvSpPr>
            <a:spLocks noGrp="1"/>
          </p:cNvSpPr>
          <p:nvPr>
            <p:ph type="title"/>
          </p:nvPr>
        </p:nvSpPr>
        <p:spPr>
          <a:xfrm>
            <a:off x="838200" y="365125"/>
            <a:ext cx="5526024" cy="530987"/>
          </a:xfrm>
        </p:spPr>
        <p:txBody>
          <a:bodyPr>
            <a:normAutofit/>
          </a:bodyPr>
          <a:lstStyle/>
          <a:p>
            <a:r>
              <a:rPr lang="en-US" sz="1600" dirty="0"/>
              <a:t>Monetization </a:t>
            </a:r>
            <a:endParaRPr lang="en-DE" sz="1600" dirty="0"/>
          </a:p>
        </p:txBody>
      </p:sp>
      <p:sp>
        <p:nvSpPr>
          <p:cNvPr id="3" name="Content Placeholder 2">
            <a:extLst>
              <a:ext uri="{FF2B5EF4-FFF2-40B4-BE49-F238E27FC236}">
                <a16:creationId xmlns:a16="http://schemas.microsoft.com/office/drawing/2014/main" id="{6BB58E34-311F-9004-D8B3-45A93116DB19}"/>
              </a:ext>
            </a:extLst>
          </p:cNvPr>
          <p:cNvSpPr>
            <a:spLocks noGrp="1"/>
          </p:cNvSpPr>
          <p:nvPr>
            <p:ph idx="1"/>
          </p:nvPr>
        </p:nvSpPr>
        <p:spPr>
          <a:xfrm>
            <a:off x="838200" y="896112"/>
            <a:ext cx="10515600" cy="5280851"/>
          </a:xfrm>
        </p:spPr>
        <p:txBody>
          <a:bodyPr/>
          <a:lstStyle/>
          <a:p>
            <a:r>
              <a:rPr lang="en-US" sz="1400" dirty="0"/>
              <a:t>Before a desired certain number of participants is achieved: </a:t>
            </a:r>
          </a:p>
          <a:p>
            <a:pPr lvl="1"/>
            <a:r>
              <a:rPr lang="en-US" sz="1000" dirty="0"/>
              <a:t>This game will be free to download.</a:t>
            </a:r>
          </a:p>
          <a:p>
            <a:pPr lvl="1"/>
            <a:r>
              <a:rPr lang="en-US" sz="1000" dirty="0"/>
              <a:t>The game will be free to register in and use at the start of each year. </a:t>
            </a:r>
          </a:p>
          <a:p>
            <a:pPr lvl="1"/>
            <a:r>
              <a:rPr lang="en-US" sz="1000" dirty="0"/>
              <a:t>Developers will gain money after the end of each year, from the non-committed players that had &lt; 360euro as funding balance. </a:t>
            </a:r>
          </a:p>
          <a:p>
            <a:r>
              <a:rPr lang="en-US" sz="1400" dirty="0"/>
              <a:t>After the desired certain number of participants is achieved:</a:t>
            </a:r>
          </a:p>
          <a:p>
            <a:pPr lvl="1"/>
            <a:r>
              <a:rPr lang="en-US" sz="1000" dirty="0"/>
              <a:t>Enrollment fees must be paid, price to download the game: 5euros</a:t>
            </a:r>
          </a:p>
          <a:p>
            <a:pPr lvl="1"/>
            <a:r>
              <a:rPr lang="en-US" sz="1000" dirty="0"/>
              <a:t>Previous players rights (their accounts) will be revoked (of course after giving everyone's money back) and they must redownload the game </a:t>
            </a:r>
          </a:p>
          <a:p>
            <a:endParaRPr lang="en-US" sz="1400" dirty="0"/>
          </a:p>
          <a:p>
            <a:endParaRPr lang="en-DE" sz="1400" dirty="0"/>
          </a:p>
        </p:txBody>
      </p:sp>
    </p:spTree>
    <p:extLst>
      <p:ext uri="{BB962C8B-B14F-4D97-AF65-F5344CB8AC3E}">
        <p14:creationId xmlns:p14="http://schemas.microsoft.com/office/powerpoint/2010/main" val="3911031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1568</Words>
  <Application>Microsoft Office PowerPoint</Application>
  <PresentationFormat>Widescreen</PresentationFormat>
  <Paragraphs>81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Wingdings</vt:lpstr>
      <vt:lpstr>Office Theme</vt:lpstr>
      <vt:lpstr>Back-off </vt:lpstr>
      <vt:lpstr>Guidelines </vt:lpstr>
      <vt:lpstr>Proof of concept</vt:lpstr>
      <vt:lpstr>Game concept: step by step guide</vt:lpstr>
      <vt:lpstr>Game concept: step by step guide</vt:lpstr>
      <vt:lpstr>Requirements to play</vt:lpstr>
      <vt:lpstr>Avoiding cheating</vt:lpstr>
      <vt:lpstr>Reasoning behind the game</vt:lpstr>
      <vt:lpstr>Monetization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Back-off </dc:title>
  <dc:creator>Imen Hellali</dc:creator>
  <cp:lastModifiedBy>Imen Hellali</cp:lastModifiedBy>
  <cp:revision>15</cp:revision>
  <dcterms:created xsi:type="dcterms:W3CDTF">2024-03-16T12:53:38Z</dcterms:created>
  <dcterms:modified xsi:type="dcterms:W3CDTF">2024-03-17T14:36:16Z</dcterms:modified>
</cp:coreProperties>
</file>